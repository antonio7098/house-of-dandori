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>
                <a:solidFill>
                  <a:srgbClr val="0D1F17"/>
                </a:solidFill>
                <a:latin typeface="Fraunces"/>
              </a:defRPr>
            </a:pPr>
            <a:r>
              <a:t>School of Dandori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000">
                <a:solidFill>
                  <a:srgbClr val="50544C"/>
                </a:solidFill>
                <a:latin typeface="Crimson Pro"/>
              </a:defRPr>
            </a:pPr>
            <a:r>
              <a:t>Preserving Whimsy with Contextually Grounded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419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E8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274320"/>
            <a:ext cx="3200400" cy="320040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Why whimsy matters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Visual + messaging system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Vibe search &amp; styling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Context engineering stack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Chatbot toolbelt &amp;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Preserving the Whimsical Vibe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A5B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419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Visual cues: organic gradients, botanical textures, warm serif typography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Copywriting: invitations to play, ‘describe your mood’ prompts, gentle humor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Micro-interactions: floating sparkles, elastic buttons, calming motion curve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Dedicated /visual-elements route for full-screen capture of all UI atoms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Vibe Search Experience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0" y="3474720"/>
            <a:ext cx="3657600" cy="3657600"/>
          </a:xfrm>
          <a:prstGeom prst="ellipse">
            <a:avLst/>
          </a:prstGeom>
          <a:solidFill>
            <a:srgbClr val="E8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Guided hero search plus ‘Vibe Search’ CTA that opens the chat panel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Semantic graphSearch endpoint fuels intent-based matching across filters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Fallback to SQL search guarantees graceful degradation when embeddings fail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Chat input hints reinforce playful tone: ‘Whisper a detail or two…’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Styling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A5B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182880"/>
            <a:ext cx="3200400" cy="320040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Color tokens mirror theme.css forest/terracotta/honey palette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Fraunces for display, Crimson Pro for body; fluid type scale keeps slides elegant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Cards, badges, search box rendered via production components for faithful screenshots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Animations (leaf float, sparkles) curated to stay calming yet magical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Messaging Pillars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457200"/>
            <a:ext cx="2743200" cy="2743200"/>
          </a:xfrm>
          <a:prstGeom prst="ellipse">
            <a:avLst/>
          </a:prstGeom>
          <a:solidFill>
            <a:srgbClr val="419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Purpose-driven: Reclaim attention, nurture adult play, celebrate instructors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Warm authority: references Ada, Tessa, Arthur—the caretakers of the school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Tactile verbs: ‘craft’, ‘conjure’, ‘tend’, grounding AI copy in human action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Evidence-first promises: every magical suggestion is backed by real course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Context Engineering North Star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A5B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91440"/>
            <a:ext cx="3200400" cy="3200400"/>
          </a:xfrm>
          <a:prstGeom prst="ellipse">
            <a:avLst/>
          </a:prstGeom>
          <a:solidFill>
            <a:srgbClr val="1A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Guarantee verifiable answers: SQL → Vector RAG → GraphRAG escalation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Deterministic metadata hygiene via sanitize_metadata + chunk builders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Configurable providers (Chroma, Qdrant, Vertex, Neo4j) swapped via env vars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Playbook inspired by docs/CONTEXT_ENGINEERING.md for onboarding clarity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Layered Retrieval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0" y="365760"/>
            <a:ext cx="2926080" cy="2926080"/>
          </a:xfrm>
          <a:prstGeom prst="ellipse">
            <a:avLst/>
          </a:prstGeom>
          <a:solidFill>
            <a:srgbClr val="E8B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SQL search_courses: fast triage + sorting via allow-listed filters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Vector RAG: CourseChunkBuilder(mode='simple') with normalized _shape_results()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GraphRAG: enriched triples + narrative chunks plus optional Neo4j neighbors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Examples JSON prove fidelity ladder: rag_moss → graphrag_moss → neo4j_moss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Chatbot Toolbelt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A5B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" y="3291840"/>
            <a:ext cx="3200400" cy="3200400"/>
          </a:xfrm>
          <a:prstGeom prst="ellipse">
            <a:avLst/>
          </a:prstGeom>
          <a:solidFill>
            <a:srgbClr val="E88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Tool-enforced retrieval: search_courses, semantic_search, graph_neighbors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_initial_context seeds SQL titles + RAG summaries + optional graph neighbors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Artifacts + display(id) markers hydrate UI capsules with evidence snippets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Graceful degradation messaging keeps trust high when API keys or providers fail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>
                <a:solidFill>
                  <a:srgbClr val="0D1F17"/>
                </a:solidFill>
                <a:latin typeface="Fraunces"/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03520" y="3566160"/>
            <a:ext cx="3657600" cy="3657600"/>
          </a:xfrm>
          <a:prstGeom prst="ellipse">
            <a:avLst/>
          </a:prstGeom>
          <a:solidFill>
            <a:srgbClr val="419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498079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Capture UI slices via /visual-elements for deck imagery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Run scripts/reindex_services.py --mode both after ingestion tweaks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Enable GRAPH_RAG_USE_NEO4J in staging to demo neighbor bullets live</a:t>
            </a:r>
          </a:p>
          <a:p>
            <a:pPr>
              <a:defRPr sz="2200">
                <a:solidFill>
                  <a:srgbClr val="1A3D2E"/>
                </a:solidFill>
                <a:latin typeface="Crimson Pro"/>
              </a:defRPr>
            </a:pPr>
            <a:r>
              <a:t>Continue evolving messaging samples and vibe prompts with instructor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